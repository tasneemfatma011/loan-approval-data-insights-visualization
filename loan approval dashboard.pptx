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6" r:id="rId2"/>
    <p:sldId id="259" r:id="rId3"/>
    <p:sldId id="257" r:id="rId4"/>
    <p:sldId id="262" r:id="rId5"/>
    <p:sldId id="260" r:id="rId6"/>
    <p:sldId id="258"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622BED-DB55-45E2-BC95-10351984ADC1}"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E683BF-B631-4070-9236-DD8C7EA1939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043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622BED-DB55-45E2-BC95-10351984ADC1}"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3607227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22BED-DB55-45E2-BC95-10351984ADC1}"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E683BF-B631-4070-9236-DD8C7EA19393}"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691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622BED-DB55-45E2-BC95-10351984ADC1}"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11991732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622BED-DB55-45E2-BC95-10351984ADC1}" type="datetimeFigureOut">
              <a:rPr lang="en-IN" smtClean="0"/>
              <a:t>04-12-2025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397865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622BED-DB55-45E2-BC95-10351984ADC1}" type="datetimeFigureOut">
              <a:rPr lang="en-IN" smtClean="0"/>
              <a:t>04-12-2025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3348170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D622BED-DB55-45E2-BC95-10351984ADC1}" type="datetimeFigureOut">
              <a:rPr lang="en-IN" smtClean="0"/>
              <a:t>04-12-2025</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3048252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D622BED-DB55-45E2-BC95-10351984ADC1}" type="datetimeFigureOut">
              <a:rPr lang="en-IN" smtClean="0"/>
              <a:t>04-12-2025</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5E683BF-B631-4070-9236-DD8C7EA19393}" type="slidenum">
              <a:rPr lang="en-IN" smtClean="0"/>
              <a:t>‹#›</a:t>
            </a:fld>
            <a:endParaRPr lang="en-IN"/>
          </a:p>
        </p:txBody>
      </p:sp>
    </p:spTree>
    <p:extLst>
      <p:ext uri="{BB962C8B-B14F-4D97-AF65-F5344CB8AC3E}">
        <p14:creationId xmlns:p14="http://schemas.microsoft.com/office/powerpoint/2010/main" val="7225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622BED-DB55-45E2-BC95-10351984ADC1}" type="datetimeFigureOut">
              <a:rPr lang="en-IN" smtClean="0"/>
              <a:t>04-12-2025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52102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622BED-DB55-45E2-BC95-10351984ADC1}"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272827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622BED-DB55-45E2-BC95-10351984ADC1}" type="datetimeFigureOut">
              <a:rPr lang="en-IN" smtClean="0"/>
              <a:t>04-12-2025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5E683BF-B631-4070-9236-DD8C7EA19393}" type="slidenum">
              <a:rPr lang="en-IN" smtClean="0"/>
              <a:t>‹#›</a:t>
            </a:fld>
            <a:endParaRPr lang="en-IN"/>
          </a:p>
        </p:txBody>
      </p:sp>
    </p:spTree>
    <p:extLst>
      <p:ext uri="{BB962C8B-B14F-4D97-AF65-F5344CB8AC3E}">
        <p14:creationId xmlns:p14="http://schemas.microsoft.com/office/powerpoint/2010/main" val="3086119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D622BED-DB55-45E2-BC95-10351984ADC1}" type="datetimeFigureOut">
              <a:rPr lang="en-IN" smtClean="0"/>
              <a:t>04-12-2025</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5E683BF-B631-4070-9236-DD8C7EA19393}"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435190"/>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204A7-874E-69FD-BE46-BF1977DB6A67}"/>
              </a:ext>
            </a:extLst>
          </p:cNvPr>
          <p:cNvSpPr>
            <a:spLocks noGrp="1"/>
          </p:cNvSpPr>
          <p:nvPr>
            <p:ph type="ctrTitle"/>
          </p:nvPr>
        </p:nvSpPr>
        <p:spPr>
          <a:xfrm>
            <a:off x="1184565" y="280556"/>
            <a:ext cx="10320048" cy="1126283"/>
          </a:xfrm>
        </p:spPr>
        <p:txBody>
          <a:bodyPr>
            <a:normAutofit fontScale="90000"/>
          </a:bodyPr>
          <a:lstStyle/>
          <a:p>
            <a:r>
              <a:rPr lang="en-US" dirty="0">
                <a:latin typeface="Amasis MT Pro Black" panose="02040A04050005020304" pitchFamily="18" charset="0"/>
              </a:rPr>
              <a:t>       </a:t>
            </a:r>
            <a:r>
              <a:rPr lang="en-US" sz="4400" dirty="0">
                <a:latin typeface="Amasis MT Pro Black" panose="02040A04050005020304" pitchFamily="18" charset="0"/>
              </a:rPr>
              <a:t>ARKA JAIN UNISERSITY</a:t>
            </a:r>
            <a:endParaRPr lang="en-IN" sz="4400" dirty="0">
              <a:latin typeface="Amasis MT Pro Black" panose="02040A04050005020304" pitchFamily="18" charset="0"/>
            </a:endParaRPr>
          </a:p>
        </p:txBody>
      </p:sp>
      <p:sp>
        <p:nvSpPr>
          <p:cNvPr id="3" name="Subtitle 2">
            <a:extLst>
              <a:ext uri="{FF2B5EF4-FFF2-40B4-BE49-F238E27FC236}">
                <a16:creationId xmlns:a16="http://schemas.microsoft.com/office/drawing/2014/main" id="{2E3A7339-7C3F-AA2E-8B73-A1E4234B8FB3}"/>
              </a:ext>
            </a:extLst>
          </p:cNvPr>
          <p:cNvSpPr>
            <a:spLocks noGrp="1"/>
          </p:cNvSpPr>
          <p:nvPr>
            <p:ph type="subTitle" idx="1"/>
          </p:nvPr>
        </p:nvSpPr>
        <p:spPr>
          <a:xfrm>
            <a:off x="1797628" y="3765755"/>
            <a:ext cx="9706985" cy="1232273"/>
          </a:xfrm>
        </p:spPr>
        <p:txBody>
          <a:bodyPr>
            <a:normAutofit/>
          </a:bodyPr>
          <a:lstStyle/>
          <a:p>
            <a:pPr algn="ctr"/>
            <a:r>
              <a:rPr lang="en-IN" u="sng" dirty="0">
                <a:latin typeface="Amasis MT Pro Black" panose="02040A04050005020304" pitchFamily="18" charset="0"/>
              </a:rPr>
              <a:t>Loan Approval Data Insights Dashboard</a:t>
            </a:r>
            <a:endParaRPr lang="en-IN" dirty="0">
              <a:latin typeface="Amasis MT Pro Black" panose="02040A04050005020304" pitchFamily="18" charset="0"/>
            </a:endParaRPr>
          </a:p>
        </p:txBody>
      </p:sp>
      <p:pic>
        <p:nvPicPr>
          <p:cNvPr id="5" name="Picture 4">
            <a:extLst>
              <a:ext uri="{FF2B5EF4-FFF2-40B4-BE49-F238E27FC236}">
                <a16:creationId xmlns:a16="http://schemas.microsoft.com/office/drawing/2014/main" id="{F27055CA-D06F-8854-2B32-95BD6BC671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2488" y="1579417"/>
            <a:ext cx="2409825" cy="1849583"/>
          </a:xfrm>
          <a:prstGeom prst="rect">
            <a:avLst/>
          </a:prstGeom>
        </p:spPr>
      </p:pic>
      <p:sp>
        <p:nvSpPr>
          <p:cNvPr id="6" name="TextBox 5">
            <a:extLst>
              <a:ext uri="{FF2B5EF4-FFF2-40B4-BE49-F238E27FC236}">
                <a16:creationId xmlns:a16="http://schemas.microsoft.com/office/drawing/2014/main" id="{E0CE96A3-4A43-EA90-5FB9-56ADEC230B57}"/>
              </a:ext>
            </a:extLst>
          </p:cNvPr>
          <p:cNvSpPr txBox="1"/>
          <p:nvPr/>
        </p:nvSpPr>
        <p:spPr>
          <a:xfrm>
            <a:off x="6410632" y="5351318"/>
            <a:ext cx="5372660" cy="1015663"/>
          </a:xfrm>
          <a:prstGeom prst="rect">
            <a:avLst/>
          </a:prstGeom>
          <a:noFill/>
        </p:spPr>
        <p:txBody>
          <a:bodyPr wrap="square" rtlCol="0">
            <a:spAutoFit/>
          </a:bodyPr>
          <a:lstStyle/>
          <a:p>
            <a:r>
              <a:rPr lang="en-US" sz="2000" dirty="0">
                <a:latin typeface="ADLaM Display" panose="02010000000000000000" pitchFamily="2" charset="0"/>
                <a:ea typeface="ADLaM Display" panose="02010000000000000000" pitchFamily="2" charset="0"/>
                <a:cs typeface="ADLaM Display" panose="02010000000000000000" pitchFamily="2" charset="0"/>
              </a:rPr>
              <a:t>PRESENTED BY-</a:t>
            </a:r>
            <a:r>
              <a:rPr lang="en-IN" sz="2000" dirty="0">
                <a:latin typeface="ADLaM Display" panose="02010000000000000000" pitchFamily="2" charset="0"/>
                <a:ea typeface="ADLaM Display" panose="02010000000000000000" pitchFamily="2" charset="0"/>
                <a:cs typeface="ADLaM Display" panose="02010000000000000000" pitchFamily="2" charset="0"/>
              </a:rPr>
              <a:t>   TASNEEM FATMA</a:t>
            </a:r>
          </a:p>
          <a:p>
            <a:r>
              <a:rPr lang="en-IN" sz="2000" dirty="0">
                <a:latin typeface="ADLaM Display" panose="02010000000000000000" pitchFamily="2" charset="0"/>
                <a:ea typeface="ADLaM Display" panose="02010000000000000000" pitchFamily="2" charset="0"/>
                <a:cs typeface="ADLaM Display" panose="02010000000000000000" pitchFamily="2" charset="0"/>
              </a:rPr>
              <a:t>ENROLLMENT NUMBER-AJU/251167</a:t>
            </a:r>
          </a:p>
          <a:p>
            <a:endParaRPr lang="en-US" sz="2000"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2910007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4DC87-05B9-C5EA-6C2E-BE03F58828FB}"/>
              </a:ext>
            </a:extLst>
          </p:cNvPr>
          <p:cNvSpPr>
            <a:spLocks noGrp="1"/>
          </p:cNvSpPr>
          <p:nvPr>
            <p:ph type="title"/>
          </p:nvPr>
        </p:nvSpPr>
        <p:spPr>
          <a:xfrm>
            <a:off x="2592925" y="624110"/>
            <a:ext cx="8911687" cy="882572"/>
          </a:xfrm>
        </p:spPr>
        <p:txBody>
          <a:bodyPr/>
          <a:lstStyle/>
          <a:p>
            <a:pPr algn="ctr"/>
            <a:r>
              <a:rPr lang="en-US" dirty="0">
                <a:latin typeface="Amasis MT Pro Black" panose="02040A04050005020304" pitchFamily="18" charset="0"/>
              </a:rPr>
              <a:t>INDRODUCTION</a:t>
            </a:r>
            <a:endParaRPr lang="en-IN"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D67C0C21-60F3-8402-497D-B2D599AD0A36}"/>
              </a:ext>
            </a:extLst>
          </p:cNvPr>
          <p:cNvSpPr>
            <a:spLocks noGrp="1"/>
          </p:cNvSpPr>
          <p:nvPr>
            <p:ph idx="1"/>
          </p:nvPr>
        </p:nvSpPr>
        <p:spPr/>
        <p:txBody>
          <a:bodyPr>
            <a:normAutofit/>
          </a:bodyPr>
          <a:lstStyle/>
          <a:p>
            <a:r>
              <a:rPr lang="en-US" sz="2800" dirty="0">
                <a:latin typeface="Century" panose="02040604050505020304" pitchFamily="18" charset="0"/>
              </a:rPr>
              <a:t>The Loan Approval Data Insights Dashboard provides a clear view of loan applications, borrower profiles, and approval trends. It helps identify risk factors, analyze creditworthiness, and improve decision-making. With interactive visuals and key metrics, the dashboard supports efficient, transparent, and data-driven loan approval processes</a:t>
            </a:r>
            <a:r>
              <a:rPr lang="en-US" sz="2800" dirty="0">
                <a:latin typeface="Century Gothic (Body)"/>
              </a:rPr>
              <a:t>.</a:t>
            </a:r>
            <a:endParaRPr lang="en-IN" sz="2800" dirty="0">
              <a:latin typeface="Century Gothic (Body)"/>
            </a:endParaRPr>
          </a:p>
        </p:txBody>
      </p:sp>
    </p:spTree>
    <p:extLst>
      <p:ext uri="{BB962C8B-B14F-4D97-AF65-F5344CB8AC3E}">
        <p14:creationId xmlns:p14="http://schemas.microsoft.com/office/powerpoint/2010/main" val="3174849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EF2EE-BA64-5653-0F89-9B93319EC10D}"/>
              </a:ext>
            </a:extLst>
          </p:cNvPr>
          <p:cNvSpPr>
            <a:spLocks noGrp="1"/>
          </p:cNvSpPr>
          <p:nvPr>
            <p:ph type="title"/>
          </p:nvPr>
        </p:nvSpPr>
        <p:spPr/>
        <p:txBody>
          <a:bodyPr/>
          <a:lstStyle/>
          <a:p>
            <a:r>
              <a:rPr lang="en-IN" dirty="0">
                <a:latin typeface="Amasis MT Pro Black" panose="02040A04050005020304" pitchFamily="18" charset="0"/>
              </a:rPr>
              <a:t>     Key Dashboard Components</a:t>
            </a:r>
          </a:p>
        </p:txBody>
      </p:sp>
      <p:sp>
        <p:nvSpPr>
          <p:cNvPr id="3" name="Content Placeholder 2">
            <a:extLst>
              <a:ext uri="{FF2B5EF4-FFF2-40B4-BE49-F238E27FC236}">
                <a16:creationId xmlns:a16="http://schemas.microsoft.com/office/drawing/2014/main" id="{25378E54-B6C6-77FA-74F8-8DEE36EEA9B8}"/>
              </a:ext>
            </a:extLst>
          </p:cNvPr>
          <p:cNvSpPr>
            <a:spLocks noGrp="1"/>
          </p:cNvSpPr>
          <p:nvPr>
            <p:ph idx="1"/>
          </p:nvPr>
        </p:nvSpPr>
        <p:spPr/>
        <p:txBody>
          <a:bodyPr>
            <a:normAutofit/>
          </a:bodyPr>
          <a:lstStyle/>
          <a:p>
            <a:pPr>
              <a:buFont typeface="Wingdings" panose="05000000000000000000" pitchFamily="2" charset="2"/>
              <a:buChar char="v"/>
            </a:pPr>
            <a:r>
              <a:rPr lang="en-US" sz="2800" dirty="0"/>
              <a:t>Total Loan Application</a:t>
            </a:r>
          </a:p>
          <a:p>
            <a:pPr>
              <a:buFont typeface="Wingdings" panose="05000000000000000000" pitchFamily="2" charset="2"/>
              <a:buChar char="v"/>
            </a:pPr>
            <a:r>
              <a:rPr lang="en-US" sz="2800" dirty="0"/>
              <a:t>Average Credit Score</a:t>
            </a:r>
          </a:p>
          <a:p>
            <a:pPr>
              <a:buFont typeface="Wingdings" panose="05000000000000000000" pitchFamily="2" charset="2"/>
              <a:buChar char="v"/>
            </a:pPr>
            <a:r>
              <a:rPr lang="en-US" sz="2800" dirty="0"/>
              <a:t>Total  Loan Amount</a:t>
            </a:r>
          </a:p>
          <a:p>
            <a:pPr>
              <a:buFont typeface="Wingdings" panose="05000000000000000000" pitchFamily="2" charset="2"/>
              <a:buChar char="v"/>
            </a:pPr>
            <a:r>
              <a:rPr lang="en-US" sz="2800" dirty="0"/>
              <a:t>Investment Goals</a:t>
            </a:r>
          </a:p>
          <a:p>
            <a:pPr>
              <a:buFont typeface="Wingdings" panose="05000000000000000000" pitchFamily="2" charset="2"/>
              <a:buChar char="v"/>
            </a:pPr>
            <a:r>
              <a:rPr lang="en-US" sz="2800" dirty="0"/>
              <a:t>Interest Rate by Risk Tolerance</a:t>
            </a:r>
          </a:p>
          <a:p>
            <a:endParaRPr lang="en-US" sz="2800" dirty="0"/>
          </a:p>
          <a:p>
            <a:endParaRPr lang="en-IN" sz="2800" dirty="0"/>
          </a:p>
        </p:txBody>
      </p:sp>
    </p:spTree>
    <p:extLst>
      <p:ext uri="{BB962C8B-B14F-4D97-AF65-F5344CB8AC3E}">
        <p14:creationId xmlns:p14="http://schemas.microsoft.com/office/powerpoint/2010/main" val="1349429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316D6-310F-10E6-18B1-E37B1EDDF270}"/>
              </a:ext>
            </a:extLst>
          </p:cNvPr>
          <p:cNvSpPr>
            <a:spLocks noGrp="1"/>
          </p:cNvSpPr>
          <p:nvPr>
            <p:ph type="title"/>
          </p:nvPr>
        </p:nvSpPr>
        <p:spPr/>
        <p:txBody>
          <a:bodyPr/>
          <a:lstStyle/>
          <a:p>
            <a:r>
              <a:rPr lang="en-IN" dirty="0">
                <a:latin typeface="Amasis MT Pro Black" panose="02040A04050005020304" pitchFamily="18" charset="0"/>
              </a:rPr>
              <a:t>       Dashboard Visualization</a:t>
            </a:r>
          </a:p>
        </p:txBody>
      </p:sp>
      <p:sp>
        <p:nvSpPr>
          <p:cNvPr id="7" name="TextBox 6">
            <a:extLst>
              <a:ext uri="{FF2B5EF4-FFF2-40B4-BE49-F238E27FC236}">
                <a16:creationId xmlns:a16="http://schemas.microsoft.com/office/drawing/2014/main" id="{61187DF3-A51F-A7B4-6C59-A52766756139}"/>
              </a:ext>
            </a:extLst>
          </p:cNvPr>
          <p:cNvSpPr txBox="1"/>
          <p:nvPr/>
        </p:nvSpPr>
        <p:spPr>
          <a:xfrm>
            <a:off x="1205345" y="1905000"/>
            <a:ext cx="3366655" cy="3477875"/>
          </a:xfrm>
          <a:prstGeom prst="rect">
            <a:avLst/>
          </a:prstGeom>
          <a:noFill/>
        </p:spPr>
        <p:txBody>
          <a:bodyPr wrap="square" rtlCol="0">
            <a:spAutoFit/>
          </a:bodyPr>
          <a:lstStyle/>
          <a:p>
            <a:r>
              <a:rPr lang="en-US" sz="2000" b="1" dirty="0"/>
              <a:t>Visual 1</a:t>
            </a:r>
            <a:r>
              <a:rPr lang="en-US" sz="2000" dirty="0"/>
              <a:t>: Age by loan status      </a:t>
            </a:r>
          </a:p>
          <a:p>
            <a:r>
              <a:rPr lang="en-US" sz="2000" b="1" dirty="0"/>
              <a:t>Type</a:t>
            </a:r>
            <a:r>
              <a:rPr lang="en-US" sz="2000" dirty="0"/>
              <a:t> : Line and Stacked Column Chart </a:t>
            </a:r>
          </a:p>
          <a:p>
            <a:endParaRPr lang="en-US" sz="2000" dirty="0"/>
          </a:p>
          <a:p>
            <a:endParaRPr lang="en-US" sz="2000" dirty="0"/>
          </a:p>
          <a:p>
            <a:r>
              <a:rPr lang="en-US" sz="2000" b="1" dirty="0"/>
              <a:t>Visual 2</a:t>
            </a:r>
            <a:r>
              <a:rPr lang="en-US" sz="2000" dirty="0"/>
              <a:t>:loan term by employment status</a:t>
            </a:r>
          </a:p>
          <a:p>
            <a:r>
              <a:rPr lang="en-US" sz="2000" b="1" dirty="0"/>
              <a:t>Type</a:t>
            </a:r>
            <a:r>
              <a:rPr lang="en-US" sz="2000" dirty="0"/>
              <a:t> : waterfall chart</a:t>
            </a:r>
          </a:p>
          <a:p>
            <a:endParaRPr lang="en-US" sz="2000" b="1" dirty="0"/>
          </a:p>
          <a:p>
            <a:endParaRPr lang="en-US" sz="2000" dirty="0"/>
          </a:p>
        </p:txBody>
      </p:sp>
      <p:sp>
        <p:nvSpPr>
          <p:cNvPr id="8" name="TextBox 7">
            <a:extLst>
              <a:ext uri="{FF2B5EF4-FFF2-40B4-BE49-F238E27FC236}">
                <a16:creationId xmlns:a16="http://schemas.microsoft.com/office/drawing/2014/main" id="{97E64EDE-92A7-7AF9-A2FB-2020AB0F0104}"/>
              </a:ext>
            </a:extLst>
          </p:cNvPr>
          <p:cNvSpPr txBox="1"/>
          <p:nvPr/>
        </p:nvSpPr>
        <p:spPr>
          <a:xfrm>
            <a:off x="4634344" y="1789694"/>
            <a:ext cx="2923311" cy="3416320"/>
          </a:xfrm>
          <a:prstGeom prst="rect">
            <a:avLst/>
          </a:prstGeom>
          <a:noFill/>
        </p:spPr>
        <p:txBody>
          <a:bodyPr wrap="square" rtlCol="0">
            <a:spAutoFit/>
          </a:bodyPr>
          <a:lstStyle/>
          <a:p>
            <a:r>
              <a:rPr lang="en-US" b="1" dirty="0"/>
              <a:t>Visual 3</a:t>
            </a:r>
            <a:r>
              <a:rPr lang="en-US" dirty="0"/>
              <a:t>: total loan amount by loan purpose       </a:t>
            </a:r>
          </a:p>
          <a:p>
            <a:r>
              <a:rPr lang="en-US" b="1" dirty="0"/>
              <a:t>Type</a:t>
            </a:r>
            <a:r>
              <a:rPr lang="en-US" dirty="0"/>
              <a:t> : pie chart</a:t>
            </a:r>
          </a:p>
          <a:p>
            <a:endParaRPr lang="en-US" dirty="0"/>
          </a:p>
          <a:p>
            <a:endParaRPr lang="en-US" dirty="0"/>
          </a:p>
          <a:p>
            <a:r>
              <a:rPr lang="en-US" b="1" dirty="0"/>
              <a:t>Visual 4</a:t>
            </a:r>
            <a:r>
              <a:rPr lang="en-US" dirty="0"/>
              <a:t>:Age by investment</a:t>
            </a:r>
          </a:p>
          <a:p>
            <a:r>
              <a:rPr lang="en-US" b="1" dirty="0"/>
              <a:t>Type</a:t>
            </a:r>
            <a:r>
              <a:rPr lang="en-US" dirty="0"/>
              <a:t> :line and clustered column chart</a:t>
            </a:r>
          </a:p>
          <a:p>
            <a:endParaRPr lang="en-US" dirty="0"/>
          </a:p>
          <a:p>
            <a:r>
              <a:rPr lang="en-IN" dirty="0"/>
              <a:t> </a:t>
            </a:r>
          </a:p>
        </p:txBody>
      </p:sp>
      <p:sp>
        <p:nvSpPr>
          <p:cNvPr id="9" name="TextBox 8">
            <a:extLst>
              <a:ext uri="{FF2B5EF4-FFF2-40B4-BE49-F238E27FC236}">
                <a16:creationId xmlns:a16="http://schemas.microsoft.com/office/drawing/2014/main" id="{354406A9-DC7E-BE9F-A92E-758283BE0EFB}"/>
              </a:ext>
            </a:extLst>
          </p:cNvPr>
          <p:cNvSpPr txBox="1"/>
          <p:nvPr/>
        </p:nvSpPr>
        <p:spPr>
          <a:xfrm>
            <a:off x="8831155" y="2015836"/>
            <a:ext cx="2693121" cy="3970318"/>
          </a:xfrm>
          <a:prstGeom prst="rect">
            <a:avLst/>
          </a:prstGeom>
          <a:noFill/>
        </p:spPr>
        <p:txBody>
          <a:bodyPr wrap="square" rtlCol="0">
            <a:spAutoFit/>
          </a:bodyPr>
          <a:lstStyle/>
          <a:p>
            <a:r>
              <a:rPr lang="en-US" b="1" dirty="0"/>
              <a:t>Visual 5</a:t>
            </a:r>
            <a:r>
              <a:rPr lang="en-US" dirty="0"/>
              <a:t>: interest rate by risk tolerant       </a:t>
            </a:r>
          </a:p>
          <a:p>
            <a:r>
              <a:rPr lang="en-US" b="1" dirty="0"/>
              <a:t>Type</a:t>
            </a:r>
            <a:r>
              <a:rPr lang="en-US" dirty="0"/>
              <a:t> : Donut chart</a:t>
            </a:r>
          </a:p>
          <a:p>
            <a:endParaRPr lang="en-US" dirty="0"/>
          </a:p>
          <a:p>
            <a:endParaRPr lang="en-US" dirty="0"/>
          </a:p>
          <a:p>
            <a:r>
              <a:rPr lang="en-US" b="1" dirty="0"/>
              <a:t>Visual 6</a:t>
            </a:r>
            <a:r>
              <a:rPr lang="en-US" dirty="0"/>
              <a:t>: Unique occupation    </a:t>
            </a:r>
          </a:p>
          <a:p>
            <a:r>
              <a:rPr lang="en-US" b="1" dirty="0"/>
              <a:t>Type</a:t>
            </a:r>
            <a:r>
              <a:rPr lang="en-US" dirty="0"/>
              <a:t> : Gauge</a:t>
            </a:r>
          </a:p>
          <a:p>
            <a:endParaRPr lang="en-US" dirty="0"/>
          </a:p>
          <a:p>
            <a:endParaRPr lang="en-US" dirty="0"/>
          </a:p>
          <a:p>
            <a:endParaRPr lang="en-US" dirty="0"/>
          </a:p>
          <a:p>
            <a:r>
              <a:rPr lang="en-US" dirty="0"/>
              <a:t> </a:t>
            </a:r>
          </a:p>
          <a:p>
            <a:pPr marL="342900" indent="-342900">
              <a:buFont typeface="Wingdings" panose="05000000000000000000" pitchFamily="2" charset="2"/>
              <a:buChar char="§"/>
            </a:pPr>
            <a:endParaRPr lang="en-US" dirty="0"/>
          </a:p>
          <a:p>
            <a:endParaRPr lang="en-IN" dirty="0"/>
          </a:p>
        </p:txBody>
      </p:sp>
    </p:spTree>
    <p:extLst>
      <p:ext uri="{BB962C8B-B14F-4D97-AF65-F5344CB8AC3E}">
        <p14:creationId xmlns:p14="http://schemas.microsoft.com/office/powerpoint/2010/main" val="2286157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8B4BD-5C6B-7553-79DE-51B694D24CC6}"/>
              </a:ext>
            </a:extLst>
          </p:cNvPr>
          <p:cNvSpPr>
            <a:spLocks noGrp="1"/>
          </p:cNvSpPr>
          <p:nvPr>
            <p:ph type="title"/>
          </p:nvPr>
        </p:nvSpPr>
        <p:spPr>
          <a:xfrm>
            <a:off x="1097280" y="988906"/>
            <a:ext cx="10058400" cy="748454"/>
          </a:xfrm>
        </p:spPr>
        <p:txBody>
          <a:bodyPr>
            <a:normAutofit/>
          </a:bodyPr>
          <a:lstStyle/>
          <a:p>
            <a:pPr algn="ctr"/>
            <a:r>
              <a:rPr lang="en-US" sz="4000" dirty="0">
                <a:latin typeface="Amasis MT Pro Black" panose="02040A04050005020304" pitchFamily="18" charset="0"/>
              </a:rPr>
              <a:t>Benefits of a Loan Approval Insights</a:t>
            </a:r>
            <a:endParaRPr lang="en-IN" sz="4000" dirty="0">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D3291401-D119-0325-6F0D-89F89FA5CF1F}"/>
              </a:ext>
            </a:extLst>
          </p:cNvPr>
          <p:cNvSpPr>
            <a:spLocks noGrp="1"/>
          </p:cNvSpPr>
          <p:nvPr>
            <p:ph idx="1"/>
          </p:nvPr>
        </p:nvSpPr>
        <p:spPr/>
        <p:txBody>
          <a:bodyPr>
            <a:normAutofit/>
          </a:bodyPr>
          <a:lstStyle/>
          <a:p>
            <a:pPr algn="just">
              <a:buFont typeface="Wingdings" panose="05000000000000000000" pitchFamily="2" charset="2"/>
              <a:buChar char="Ø"/>
            </a:pPr>
            <a:r>
              <a:rPr lang="en-US" sz="3200" dirty="0">
                <a:latin typeface="+mj-lt"/>
              </a:rPr>
              <a:t>Improved decision-making</a:t>
            </a:r>
          </a:p>
          <a:p>
            <a:pPr algn="just">
              <a:buFont typeface="Wingdings" panose="05000000000000000000" pitchFamily="2" charset="2"/>
              <a:buChar char="Ø"/>
            </a:pPr>
            <a:r>
              <a:rPr lang="en-US" sz="3200" dirty="0">
                <a:latin typeface="+mj-lt"/>
              </a:rPr>
              <a:t>Increased operational efficiency</a:t>
            </a:r>
          </a:p>
          <a:p>
            <a:pPr algn="just">
              <a:buFont typeface="Wingdings" panose="05000000000000000000" pitchFamily="2" charset="2"/>
              <a:buChar char="Ø"/>
            </a:pPr>
            <a:r>
              <a:rPr lang="en-US" sz="3200" dirty="0">
                <a:latin typeface="+mj-lt"/>
              </a:rPr>
              <a:t>Better Risk Assessment</a:t>
            </a:r>
          </a:p>
          <a:p>
            <a:pPr algn="just">
              <a:buFont typeface="Wingdings" panose="05000000000000000000" pitchFamily="2" charset="2"/>
              <a:buChar char="Ø"/>
            </a:pPr>
            <a:r>
              <a:rPr lang="en-US" sz="3200" dirty="0">
                <a:latin typeface="+mj-lt"/>
              </a:rPr>
              <a:t>Enhanced Customer Experience</a:t>
            </a:r>
          </a:p>
          <a:p>
            <a:pPr algn="just">
              <a:buFont typeface="Wingdings" panose="05000000000000000000" pitchFamily="2" charset="2"/>
              <a:buChar char="Ø"/>
            </a:pPr>
            <a:r>
              <a:rPr lang="en-US" sz="3200" dirty="0">
                <a:latin typeface="+mj-lt"/>
              </a:rPr>
              <a:t>Transparency in loan Evolution</a:t>
            </a:r>
          </a:p>
          <a:p>
            <a:pPr algn="just">
              <a:buFont typeface="Wingdings" panose="05000000000000000000" pitchFamily="2" charset="2"/>
              <a:buChar char="Ø"/>
            </a:pPr>
            <a:r>
              <a:rPr lang="en-US" sz="3200" dirty="0">
                <a:latin typeface="+mj-lt"/>
              </a:rPr>
              <a:t>Strategic Business Planning</a:t>
            </a:r>
          </a:p>
          <a:p>
            <a:endParaRPr lang="en-IN" sz="3200" dirty="0">
              <a:latin typeface="+mj-lt"/>
            </a:endParaRPr>
          </a:p>
        </p:txBody>
      </p:sp>
    </p:spTree>
    <p:extLst>
      <p:ext uri="{BB962C8B-B14F-4D97-AF65-F5344CB8AC3E}">
        <p14:creationId xmlns:p14="http://schemas.microsoft.com/office/powerpoint/2010/main" val="1089807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FF451-E68F-D51D-6822-4A4AFB2AB70E}"/>
              </a:ext>
            </a:extLst>
          </p:cNvPr>
          <p:cNvSpPr>
            <a:spLocks noGrp="1"/>
          </p:cNvSpPr>
          <p:nvPr>
            <p:ph type="title"/>
          </p:nvPr>
        </p:nvSpPr>
        <p:spPr>
          <a:xfrm>
            <a:off x="2047009" y="862444"/>
            <a:ext cx="8284365" cy="1042555"/>
          </a:xfrm>
        </p:spPr>
        <p:txBody>
          <a:bodyPr>
            <a:normAutofit/>
          </a:bodyPr>
          <a:lstStyle/>
          <a:p>
            <a:r>
              <a:rPr lang="en-US" dirty="0">
                <a:latin typeface="Amasis MT Pro Black" panose="02040A04050005020304" pitchFamily="18" charset="0"/>
              </a:rPr>
              <a:t>                Dashboard</a:t>
            </a:r>
            <a:endParaRPr lang="en-IN" dirty="0">
              <a:latin typeface="Amasis MT Pro Black" panose="02040A04050005020304" pitchFamily="18" charset="0"/>
            </a:endParaRPr>
          </a:p>
        </p:txBody>
      </p:sp>
      <p:pic>
        <p:nvPicPr>
          <p:cNvPr id="6" name="Content Placeholder 5">
            <a:extLst>
              <a:ext uri="{FF2B5EF4-FFF2-40B4-BE49-F238E27FC236}">
                <a16:creationId xmlns:a16="http://schemas.microsoft.com/office/drawing/2014/main" id="{C5290D75-89D2-9E15-1C9E-49E212EEA4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9806" y="1750142"/>
            <a:ext cx="9360310" cy="4493342"/>
          </a:xfrm>
        </p:spPr>
      </p:pic>
    </p:spTree>
    <p:extLst>
      <p:ext uri="{BB962C8B-B14F-4D97-AF65-F5344CB8AC3E}">
        <p14:creationId xmlns:p14="http://schemas.microsoft.com/office/powerpoint/2010/main" val="1446741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16219-0CEA-93A6-DAF9-E40EE0457C4F}"/>
              </a:ext>
            </a:extLst>
          </p:cNvPr>
          <p:cNvSpPr>
            <a:spLocks noGrp="1"/>
          </p:cNvSpPr>
          <p:nvPr>
            <p:ph type="title"/>
          </p:nvPr>
        </p:nvSpPr>
        <p:spPr/>
        <p:txBody>
          <a:bodyPr>
            <a:normAutofit/>
          </a:bodyPr>
          <a:lstStyle/>
          <a:p>
            <a:r>
              <a:rPr lang="en-IN" sz="4400" dirty="0">
                <a:latin typeface="Amasis MT Pro Black" panose="02040A04050005020304" pitchFamily="18" charset="0"/>
              </a:rPr>
              <a:t>           Conclusion</a:t>
            </a:r>
          </a:p>
        </p:txBody>
      </p:sp>
      <p:sp>
        <p:nvSpPr>
          <p:cNvPr id="3" name="Content Placeholder 2">
            <a:extLst>
              <a:ext uri="{FF2B5EF4-FFF2-40B4-BE49-F238E27FC236}">
                <a16:creationId xmlns:a16="http://schemas.microsoft.com/office/drawing/2014/main" id="{51C0F390-7CC9-392C-F2EA-4351B6F18881}"/>
              </a:ext>
            </a:extLst>
          </p:cNvPr>
          <p:cNvSpPr>
            <a:spLocks noGrp="1"/>
          </p:cNvSpPr>
          <p:nvPr>
            <p:ph idx="1"/>
          </p:nvPr>
        </p:nvSpPr>
        <p:spPr>
          <a:xfrm>
            <a:off x="1524000" y="2133600"/>
            <a:ext cx="10432026" cy="3777622"/>
          </a:xfrm>
        </p:spPr>
        <p:txBody>
          <a:bodyPr>
            <a:normAutofit fontScale="92500" lnSpcReduction="10000"/>
          </a:bodyPr>
          <a:lstStyle/>
          <a:p>
            <a:pPr algn="just"/>
            <a:r>
              <a:rPr lang="en-US" sz="3600" dirty="0">
                <a:latin typeface="Century Schoolbook" panose="02040604050505020304" pitchFamily="18" charset="0"/>
              </a:rPr>
              <a:t>The Loan Approval Data Insights Dashboard enables smarter, faster, and more transparent lending decisions by analyzing borrower profiles, creditworthiness, and risk patterns. It improves operational efficiency, reduces default rates, and empowers financial institutions to optimize loan strategies, ensuring a reliable and data-driven approval process that enhances overall business performance.</a:t>
            </a:r>
          </a:p>
          <a:p>
            <a:endParaRPr lang="en-IN" sz="3600" dirty="0"/>
          </a:p>
        </p:txBody>
      </p:sp>
    </p:spTree>
    <p:extLst>
      <p:ext uri="{BB962C8B-B14F-4D97-AF65-F5344CB8AC3E}">
        <p14:creationId xmlns:p14="http://schemas.microsoft.com/office/powerpoint/2010/main" val="155024974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347</TotalTime>
  <Words>255</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ADLaM Display</vt:lpstr>
      <vt:lpstr>Amasis MT Pro Black</vt:lpstr>
      <vt:lpstr>Calibri</vt:lpstr>
      <vt:lpstr>Calibri Light</vt:lpstr>
      <vt:lpstr>Century</vt:lpstr>
      <vt:lpstr>Century Gothic (Body)</vt:lpstr>
      <vt:lpstr>Century Schoolbook</vt:lpstr>
      <vt:lpstr>Wingdings</vt:lpstr>
      <vt:lpstr>Retrospect</vt:lpstr>
      <vt:lpstr>       ARKA JAIN UNISERSITY</vt:lpstr>
      <vt:lpstr>INDRODUCTION</vt:lpstr>
      <vt:lpstr>     Key Dashboard Components</vt:lpstr>
      <vt:lpstr>       Dashboard Visualization</vt:lpstr>
      <vt:lpstr>Benefits of a Loan Approval Insights</vt:lpstr>
      <vt:lpstr>                Dashboard</vt:lpstr>
      <vt:lpstr>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kumari</dc:creator>
  <cp:lastModifiedBy>Tasneem Fatma</cp:lastModifiedBy>
  <cp:revision>6</cp:revision>
  <dcterms:created xsi:type="dcterms:W3CDTF">2025-12-02T12:38:51Z</dcterms:created>
  <dcterms:modified xsi:type="dcterms:W3CDTF">2025-12-04T06:54:23Z</dcterms:modified>
</cp:coreProperties>
</file>